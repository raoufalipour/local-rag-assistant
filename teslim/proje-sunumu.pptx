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69f3852975417e" /><Relationship Type="http://schemas.openxmlformats.org/officeDocument/2006/relationships/extended-properties" Target="/docProps/app.xml" Id="R8b439d9f748f43d4" /><Relationship Type="http://schemas.openxmlformats.org/officeDocument/2006/relationships/officeDocument" Target="/ppt/presentation.xml" Id="Rcf1b0e582c4943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33c4040f74cc2"/>
  </p:sldMasterIdLst>
  <p:notesMasterIdLst>
    <p:notesMasterId xmlns:r="http://schemas.openxmlformats.org/officeDocument/2006/relationships" r:id="Ra88a69bcb69e42f5"/>
  </p:notesMasterIdLst>
  <p:sldIdLst>
    <p:sldId xmlns:r="http://schemas.openxmlformats.org/officeDocument/2006/relationships" id="256" r:id="R055406caf7df4f89"/>
    <p:sldId xmlns:r="http://schemas.openxmlformats.org/officeDocument/2006/relationships" id="257" r:id="R18fff2fc977844b7"/>
    <p:sldId xmlns:r="http://schemas.openxmlformats.org/officeDocument/2006/relationships" id="258" r:id="R7723d72da2014a7b"/>
    <p:sldId xmlns:r="http://schemas.openxmlformats.org/officeDocument/2006/relationships" id="259" r:id="Rf2559ae03f504557"/>
    <p:sldId xmlns:r="http://schemas.openxmlformats.org/officeDocument/2006/relationships" id="260" r:id="R19f9f267a2ad4ccb"/>
    <p:sldId xmlns:r="http://schemas.openxmlformats.org/officeDocument/2006/relationships" id="261" r:id="Re79d2163ee23497b"/>
    <p:sldId xmlns:r="http://schemas.openxmlformats.org/officeDocument/2006/relationships" id="262" r:id="R329fc06cd81d4649"/>
    <p:sldId xmlns:r="http://schemas.openxmlformats.org/officeDocument/2006/relationships" id="263" r:id="R43f2da45004d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69c33ebcd34732" /><Relationship Type="http://schemas.openxmlformats.org/officeDocument/2006/relationships/slideMaster" Target="/ppt/slideMasters/slideMaster1.xml" Id="Rd5c33c4040f74cc2" /><Relationship Type="http://schemas.openxmlformats.org/officeDocument/2006/relationships/notesMaster" Target="/ppt/notesMasters/notesMaster1.xml" Id="Ra88a69bcb69e42f5" /><Relationship Type="http://schemas.openxmlformats.org/officeDocument/2006/relationships/presProps" Target="/ppt/presProps.xml" Id="Rbbb47f1055564e89" /><Relationship Type="http://schemas.openxmlformats.org/officeDocument/2006/relationships/tableStyles" Target="/ppt/tableStyles.xml" Id="R2bd20a9ce41c4bbf" /><Relationship Type="http://schemas.openxmlformats.org/officeDocument/2006/relationships/slide" Target="/ppt/slides/slide1.xml" Id="R055406caf7df4f89" /><Relationship Type="http://schemas.openxmlformats.org/officeDocument/2006/relationships/slide" Target="/ppt/slides/slide2.xml" Id="R18fff2fc977844b7" /><Relationship Type="http://schemas.openxmlformats.org/officeDocument/2006/relationships/slide" Target="/ppt/slides/slide3.xml" Id="R7723d72da2014a7b" /><Relationship Type="http://schemas.openxmlformats.org/officeDocument/2006/relationships/slide" Target="/ppt/slides/slide4.xml" Id="Rf2559ae03f504557" /><Relationship Type="http://schemas.openxmlformats.org/officeDocument/2006/relationships/slide" Target="/ppt/slides/slide5.xml" Id="R19f9f267a2ad4ccb" /><Relationship Type="http://schemas.openxmlformats.org/officeDocument/2006/relationships/slide" Target="/ppt/slides/slide6.xml" Id="Re79d2163ee23497b" /><Relationship Type="http://schemas.openxmlformats.org/officeDocument/2006/relationships/slide" Target="/ppt/slides/slide7.xml" Id="R329fc06cd81d4649" /><Relationship Type="http://schemas.openxmlformats.org/officeDocument/2006/relationships/slide" Target="/ppt/slides/slide8.xml" Id="R43f2da45004d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d10554beb1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6a711917aa46d1" /><Relationship Type="http://schemas.openxmlformats.org/officeDocument/2006/relationships/notesMaster" Target="/ppt/notesMasters/notesMaster1.xml" Id="R9d17a1b021094b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236aca9ec4c35" /><Relationship Type="http://schemas.openxmlformats.org/officeDocument/2006/relationships/notesMaster" Target="/ppt/notesMasters/notesMaster1.xml" Id="Rd6e5456e155347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9c78f8ea240df" /><Relationship Type="http://schemas.openxmlformats.org/officeDocument/2006/relationships/notesMaster" Target="/ppt/notesMasters/notesMaster1.xml" Id="R890319b9d76c48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b530b74d64d00" /><Relationship Type="http://schemas.openxmlformats.org/officeDocument/2006/relationships/notesMaster" Target="/ppt/notesMasters/notesMaster1.xml" Id="Ree1c48edd01f47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4ec25cffa420b" /><Relationship Type="http://schemas.openxmlformats.org/officeDocument/2006/relationships/notesMaster" Target="/ppt/notesMasters/notesMaster1.xml" Id="R4be97055806140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ef13cfbe604b1a" /><Relationship Type="http://schemas.openxmlformats.org/officeDocument/2006/relationships/notesMaster" Target="/ppt/notesMasters/notesMaster1.xml" Id="R4f85932f719f4e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e825dc1abe4f78" /><Relationship Type="http://schemas.openxmlformats.org/officeDocument/2006/relationships/notesMaster" Target="/ppt/notesMasters/notesMaster1.xml" Id="R9c0acd484cd444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7b505476e143b9" /><Relationship Type="http://schemas.openxmlformats.org/officeDocument/2006/relationships/notesMaster" Target="/ppt/notesMasters/notesMaster1.xml" Id="R98fa97f7d6de49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Amaç: Kullanıcının belgelerinden yerel ortamda kaynaklı cevap üretmek. Tam doğruluk veya sabit hız garantisi verilmez. Kaynak: teslim/proje-raporu.md.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ragapp/core.py, retrieval.py, evidence.py. Örtüşme 30 kelime. Bu akış varsayılan extractive modu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Windows kullanıcı çıktıları ve docs/evidence. CUDA varyantları yüklenmiştir. --offline işletim sistemi ağ engeli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docs/test-results-release.txt ve docs/evidence/windows-cuda-quality-v3.json, review/replay kayıtları. 16 yeterli ve 1 kısmi cevabın incelemesi kaynakla karşılaştırmadır; otomatik doğruluk garantisi değildir. Replay yeni GPU koşumu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docs/evidence/pusula-first.json ve pusula-date-fix-windows.json. Son kontrol iki sorudur. Gün/saat sorusu bu oturumda sohbet modelini ilk kez yükler.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pusula-date-fix-windows.json, ragapp/ui_service.py, tests/test_ui_service.py. Cache hit ekranda belirtilir; indeks değişimi önbelleği geçersiz kılar. SDK çağrı süresi saf GPU süresi olarak yorumlanmaz.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teslim/DEMO.md. Demo öncesi ilk model yüklemesi için zaman ayırın; ısınmış veya önbellekli sonucu soğuk başlangıç gibi sunmayın. Pusula sınav sorusu için PDF indekslenmiş olmalı.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teslim/proje-raporu.md. Dosya silme indeksi otomatik temizlemez. Serbest generative modunda kaynak etiketleri anlamsal doğruluk kanıtı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c477c1c2e4e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4c1328df343aa" /><Relationship Type="http://schemas.openxmlformats.org/officeDocument/2006/relationships/slideLayout" Target="/ppt/slideLayouts/slideLayout1.xml" Id="R4f6a35f9c6cd43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6a35f9c6cd43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e42021154525" /><Relationship Type="http://schemas.openxmlformats.org/officeDocument/2006/relationships/notesSlide" Target="/ppt/notesSlides/notesSlide1.xml" Id="R12ef343a1882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a240549ed4c07" /><Relationship Type="http://schemas.openxmlformats.org/officeDocument/2006/relationships/notesSlide" Target="/ppt/notesSlides/notesSlide2.xml" Id="Re6ee3e2537b5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7e5bcda724359" /><Relationship Type="http://schemas.openxmlformats.org/officeDocument/2006/relationships/notesSlide" Target="/ppt/notesSlides/notesSlide3.xml" Id="R8752c78b7025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eddbc2dfc4fe9" /><Relationship Type="http://schemas.openxmlformats.org/officeDocument/2006/relationships/notesSlide" Target="/ppt/notesSlides/notesSlide4.xml" Id="R40377ae2ec4841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5512f42f477b" /><Relationship Type="http://schemas.openxmlformats.org/officeDocument/2006/relationships/notesSlide" Target="/ppt/notesSlides/notesSlide5.xml" Id="R3ff6e3182ce146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d311293234321" /><Relationship Type="http://schemas.openxmlformats.org/officeDocument/2006/relationships/notesSlide" Target="/ppt/notesSlides/notesSlide6.xml" Id="Raf59ff84904f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6c1357fe8455e" /><Relationship Type="http://schemas.openxmlformats.org/officeDocument/2006/relationships/notesSlide" Target="/ppt/notesSlides/notesSlide7.xml" Id="R0ee2c22cfe9f47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c2142fe714f45" /><Relationship Type="http://schemas.openxmlformats.org/officeDocument/2006/relationships/notesSlide" Target="/ppt/notesSlides/notesSlide8.xml" Id="R4e40d90606c340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3930B-C9AC-4897-B4C7-90A4134E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Yerel RAG Asistanı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6976D-326C-4A06-AD48-E8E6BE3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Türkçe belgeler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9EB17-B1A4-475B-B849-54EBD0B1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Kaynaklı cevaplar • Yerel modeller • Çevrimdışı kullanım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4BCD9-F342-449A-8A07-65230AE8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Python + SQLite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08ECF-7411-42CD-B4B8-297E0C4F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Microsoft Foundry Local ve Streamlit ile akademik prototip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3CDAF-FDA6-4C9B-A184-C7F56D7B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Son teslim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52D29-CA9A-4B2D-AF31-70693939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Kod, deney kayıtları, rapor ve demo rehberi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7F400-0D71-4595-9EB4-1813FAF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425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69769-89DA-4110-9B81-21B3A2E7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Belgeden kaynaklı cevaba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6EF0C-24AA-49A1-8EE2-FCFB30AD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Hazırlama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0726-EBF6-4066-88BA-162CF402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TXT / MD / PDF → 180 kelimelik parçalar → 1024 boyutlu vektörler → SQLite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13D1-AE57-4AA8-9394-8F76BD15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Arama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2E9B3-D534-4C37-8123-3291540D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Soru vektörü + sözcük araması → cosine / BM25 → birleşik sıralama → en çok 3 parça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F27B6-7907-4B65-8A68-191BF5F6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Cevap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EECCB-14BE-4BBF-A535-D8433DA1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Kaynak cümlesi seçimi → kapsam kontrolü → cevap ve belge / sayfa bilgisi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A5448-0B5C-4D0B-B906-1E1920E2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96893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37D83-F84D-4BFF-B89C-C69C8ED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Cihazda çalışan uygulama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4EB04-6DAE-4C25-AA2C-32192DB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Kullanıcı ortamı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46B98-00F2-4513-AC74-2562D15F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Windows 11 • Python 3.13.3 • 32 GB RAM</a:t>
            </a:r>
          </a:p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RTX 4070 Laptop GPU • 8188 MiB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9E6C7-A29A-4CC8-BFC6-1A10F1AF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İki yerel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18BA5-4CD5-4626-B984-FF0BB702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qwen2.5-7b: sohbet</a:t>
            </a:r>
          </a:p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qwen3-embedding-0.6b: embedding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ADC57-6A9B-47A2-BEE7-D75C09DC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Arayüz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A05AF-D859-4E2F-8228-A9E3F464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Sohbet, kaynak gösterimi, belge ekleme ve JSON dışa aktarma; yerel katalogla çevrimdışı kullanım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96A68-AEC6-4AD7-942F-36AAD95A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4017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B98FA-47F2-4E19-89FF-6D538808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Kaliteyi farklı kontrollerle ölçtük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56ADD-3931-41CF-8ECA-76DE2177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534025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Kontrol</a:t>
                      </a:r>
                    </a:p>
                  </a:txBody>
                  <a:tcPr marL="91440" marR="91440" marT="45720" marB="45720">
                    <a:solidFill>
                      <a:srgbClr val="1766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Sonuç</a:t>
                      </a:r>
                    </a:p>
                  </a:txBody>
                  <a:tcPr marL="91440" marR="91440" marT="45720" marB="45720">
                    <a:solidFill>
                      <a:srgbClr val="17665A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Otomatik altyapı testleri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86 başarılı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 soru: doğru kaynak</a:t>
                      </a:r>
                    </a:p>
                  </a:txBody>
                  <a:tcPr marL="91440" marR="91440" marT="45720" marB="45720"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17 / 17 cevaplanabilir soru</a:t>
                      </a:r>
                    </a:p>
                  </a:txBody>
                  <a:tcPr marL="91440" marR="91440" marT="45720" marB="45720">
                    <a:solidFill>
                      <a:srgbClr val="EAF0E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Cevap yeterliliği incelemesi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yeterli; 1 kısmi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Kapsam dışı: gerçek koşum</a:t>
                      </a:r>
                    </a:p>
                  </a:txBody>
                  <a:tcPr marL="91440" marR="91440" marT="45720" marB="45720"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 ret; 2 geçersiz kanıt</a:t>
                      </a:r>
                    </a:p>
                  </a:txBody>
                  <a:tcPr marL="91440" marR="91440" marT="45720" marB="45720">
                    <a:solidFill>
                      <a:srgbClr val="EAF0E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Ayrıştırma düzeltmesi: kayıt tekrarı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3D3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/ 7 ret; yeni model koşumu değil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74466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5FF75-BAD1-42CE-8EA9-FA38F3D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Yeni PDF, gerçek bir hatayı ortaya çıkardı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5B171-142E-49BF-8950-13B59B1C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İlk deneme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947D8-C094-4075-A6EF-0FAFAAC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5 bilgi sorusu doğru; olmayan sınav tarihi için belge sürüm tarihi seçildi.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34801-34AD-43CE-A8AA-6FDD66B4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Düzeltme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B44BA-D72B-473A-8287-D892E19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Extractive moduna olay ve tarih eşleşmesi kontrolü eklendi.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2AC1E-ACC2-48BC-AC1C-AF6B68CD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Son Windows kontrolü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D9301-994F-4904-BE68-29C39E66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Sınav sorusu: no_context, 0,47 saniye.</a:t>
            </a:r>
          </a:p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Gün / saat sorusu: doğru, 49,55 saniye.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81F35-325C-42C7-A9A3-23A6756A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1664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AB204-FC8E-4FB5-A83A-F3A0E12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Hız: tekrar soruları için önbellek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CE9D0-FFFD-40D9-B21C-57EE6EC0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Ölçülen durum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669D4-9957-447E-972D-18232DA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Son PDF cevabı: 49,55 saniye. Yaklaşık 12,28 saniye yükleme + 35,97 saniye SDK çağrısı.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7D6A7-AB26-4A32-99BA-0D3984D5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Son değişiklik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DE8AA-CC1C-49A5-A1A4-DB9B17BF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Aynı soru + aynı cevap modu + değişmemiş indeks: önceki cevap kullanılır, model çağrısı atlanır.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7C2B9-C5BF-4B15-BF8C-0910A453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Dürüst sınır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524AD-05C3-4C7D-91BB-F043DFF5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32 kayıtlık oturum önbelleği yeni soruları hızlandırmaz. Son değişiklik için yeni Windows süre ölçümü yok.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8E1CB-AF5F-4E5E-A2BE-B12E39D5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39051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9B145-0221-4AE4-84C2-18CFBB8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Canlı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85A7F-F3F7-4EA0-8B8B-518409D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1 · Belgeden cevap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41335-77FF-49E4-B960-176ED2A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“break ile continue farkı nedir?” → cevap ve kaynak cümlesini birlikte gösterin.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C32CE-1810-47E1-98C6-A04887C5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2 · Tekrar ve ret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F8555-04E3-497A-8C02-3A1B209A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Aynı soruyu tekrar sorun, önbellek açıklamasını gösterin. Sonra bulunmayan sınav tarihini sorun.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44486-7732-44C7-8CCC-F22DFD9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3 · İzlenebilirlik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D0B55-E5BC-479A-AC95-C75706BA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Belge ve sayfa bilgilerini açın; sohbeti JSON olarak indirin.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B9CBD-54C5-4211-BD74-CC96A475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35284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3B6E0-6918-4D4B-BAD9-61153470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Teslim edilen kapsam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D9F63-94F1-4B84-B576-66D18BE9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Hazır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3A5A2-7E72-4CB9-8D59-B6A1B75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Çalışan yerel uygulama, kod, 86 test, deney kayıtları, kullanım rehberi, rapor ve sunum.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D5686-FF33-4598-B4D9-5640D44D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Bilinen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8DC31-0B4C-4D88-8191-46757B61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765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Yeni sorularda değişken gecikme; OCR yok; takip sorularına sohbet belleği yok; kapsam filtreleri sınırlı.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B66C3-66B7-4CB5-A35A-8ECAC884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665A"/>
                </a:solidFill>
                <a:latin typeface="DejaVu Sans"/>
                <a:ea typeface="DejaVu Sans"/>
                <a:cs typeface="DejaVu Sans"/>
              </a:rPr>
              <a:t>Sonuç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72842-BAE5-4EF2-8032-FC3E93A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95775"/>
            <a:ext cx="709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Belgelerden kaynaklı cevap üreten, sınırları belgelenmiş bir akademik prototip.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5518C-0760-49C7-BB3E-6E24286B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213D3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027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2026-09-29T23:04:46.6770000Z</dcterms:created>
  <dcterms:modified xsi:type="dcterms:W3CDTF">2026-09-29T23:04:46.6770000Z</dcterms:modified>
</coreProperties>
</file>